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5"/>
  </p:notesMasterIdLst>
  <p:handoutMasterIdLst>
    <p:handoutMasterId r:id="rId16"/>
  </p:handoutMasterIdLst>
  <p:sldIdLst>
    <p:sldId id="256" r:id="rId5"/>
    <p:sldId id="257" r:id="rId6"/>
    <p:sldId id="269" r:id="rId7"/>
    <p:sldId id="270" r:id="rId8"/>
    <p:sldId id="271" r:id="rId9"/>
    <p:sldId id="272" r:id="rId10"/>
    <p:sldId id="273" r:id="rId11"/>
    <p:sldId id="275" r:id="rId12"/>
    <p:sldId id="274" r:id="rId13"/>
    <p:sldId id="268" r:id="rId14"/>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77" y="3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5/13/2026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5/13/2026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4800" spc="-1" dirty="0" err="1">
                <a:latin typeface="Times New Roman" panose="02020603050405020304" pitchFamily="18" charset="0"/>
                <a:ea typeface="Calibri" panose="020F0502020204030204" pitchFamily="34" charset="0"/>
                <a:cs typeface="Times New Roman" panose="02020603050405020304" pitchFamily="18" charset="0"/>
              </a:rPr>
              <a:t>NutriGuide</a:t>
            </a:r>
            <a:r>
              <a:rPr lang="en-US" sz="4800" spc="-1" dirty="0">
                <a:latin typeface="Times New Roman" panose="02020603050405020304" pitchFamily="18" charset="0"/>
                <a:ea typeface="Calibri" panose="020F0502020204030204" pitchFamily="34" charset="0"/>
                <a:cs typeface="Times New Roman" panose="02020603050405020304" pitchFamily="18" charset="0"/>
              </a:rPr>
              <a:t> AI</a:t>
            </a:r>
            <a:endParaRPr lang="en-US" sz="2000"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Arayana Singh (2210990149)</a:t>
            </a: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Annanya (2210990130)</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Bhavika Arora (2210990220)</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Dr. Gifty Gupta</a:t>
            </a: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b="0" strike="noStrike" spc="-1" dirty="0">
                <a:solidFill>
                  <a:srgbClr val="000000"/>
                </a:solidFill>
                <a:latin typeface="Times New Roman" panose="02020603050405020304" pitchFamily="18" charset="0"/>
                <a:cs typeface="Times New Roman" panose="02020603050405020304" pitchFamily="18" charset="0"/>
              </a:rPr>
              <a:t>Problem Statement</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pPr marL="139700" lvl="0">
              <a:buClr>
                <a:srgbClr val="000000"/>
              </a:buClr>
              <a:buSzPts val="1400"/>
            </a:pPr>
            <a:r>
              <a:rPr lang="en-US" sz="3200" dirty="0">
                <a:latin typeface="Times New Roman" panose="02020603050405020304" pitchFamily="18" charset="0"/>
                <a:cs typeface="Times New Roman" panose="02020603050405020304" pitchFamily="18" charset="0"/>
              </a:rPr>
              <a:t>People often lack personalized guidance for maintaining a healthy diet and lifestyle. Most diet plans are generic and do not consider individual factors like BMI, calorie needs, and daily habits, making it difficult to track health progress and stay consistent.</a:t>
            </a:r>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823C5-AFBD-D0F3-2348-BBFC0102B55B}"/>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E95F213D-C2B5-EDF9-73DF-899ABC8A69BA}"/>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spc="-1" dirty="0">
                <a:solidFill>
                  <a:srgbClr val="000000"/>
                </a:solidFill>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82A71E28-7D23-E375-C480-A1EC05C60928}"/>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3</a:t>
            </a:fld>
            <a:endParaRPr lang="en-GB" sz="1200" b="0" strike="noStrike" spc="-1">
              <a:latin typeface="Times New Roman"/>
            </a:endParaRPr>
          </a:p>
        </p:txBody>
      </p:sp>
      <p:sp>
        <p:nvSpPr>
          <p:cNvPr id="5" name="TextShape 2">
            <a:extLst>
              <a:ext uri="{FF2B5EF4-FFF2-40B4-BE49-F238E27FC236}">
                <a16:creationId xmlns:a16="http://schemas.microsoft.com/office/drawing/2014/main" id="{767CB448-AA0B-1F86-FD99-92A013AF65CE}"/>
              </a:ext>
            </a:extLst>
          </p:cNvPr>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pPr marL="139700" lvl="0" algn="ctr">
              <a:buClr>
                <a:srgbClr val="000000"/>
              </a:buClr>
              <a:buSzPts val="1400"/>
            </a:pPr>
            <a:r>
              <a:rPr lang="en-US" sz="3000" i="1" dirty="0">
                <a:latin typeface="Times New Roman" panose="02020603050405020304" pitchFamily="18" charset="0"/>
                <a:cs typeface="Times New Roman" panose="02020603050405020304" pitchFamily="18" charset="0"/>
              </a:rPr>
              <a:t>Healthy nutrition isn't just about the food you eat, it's also about how you prepare it.</a:t>
            </a:r>
          </a:p>
          <a:p>
            <a:pPr marL="139700" lvl="0" algn="ctr">
              <a:buClr>
                <a:srgbClr val="000000"/>
              </a:buClr>
              <a:buSzPts val="1400"/>
            </a:pPr>
            <a:endParaRPr lang="en-US" sz="3200" dirty="0">
              <a:latin typeface="Times New Roman" panose="02020603050405020304" pitchFamily="18" charset="0"/>
              <a:cs typeface="Times New Roman" panose="02020603050405020304" pitchFamily="18" charset="0"/>
            </a:endParaRPr>
          </a:p>
          <a:p>
            <a:pPr marL="139700" lvl="0">
              <a:buClr>
                <a:srgbClr val="000000"/>
              </a:buClr>
              <a:buSzPts val="1400"/>
            </a:pPr>
            <a:r>
              <a:rPr lang="en-US" sz="3200" dirty="0" err="1">
                <a:latin typeface="Times New Roman" panose="02020603050405020304" pitchFamily="18" charset="0"/>
                <a:cs typeface="Times New Roman" panose="02020603050405020304" pitchFamily="18" charset="0"/>
              </a:rPr>
              <a:t>NutriGuide</a:t>
            </a:r>
            <a:r>
              <a:rPr lang="en-US" sz="3200" dirty="0">
                <a:latin typeface="Times New Roman" panose="02020603050405020304" pitchFamily="18" charset="0"/>
                <a:cs typeface="Times New Roman" panose="02020603050405020304" pitchFamily="18" charset="0"/>
              </a:rPr>
              <a:t> is an AI-based health and nutrition assistant designed to help individuals maintain a balanced and healthy lifestyle. It provides personalized diet plans based on factors like BMI, calorie requirements, and user goals.</a:t>
            </a:r>
          </a:p>
          <a:p>
            <a:pPr marL="139700" lvl="0" algn="ctr">
              <a:buClr>
                <a:srgbClr val="000000"/>
              </a:buClr>
              <a:buSzPts val="1400"/>
            </a:pPr>
            <a:endParaRPr lang="en-US" sz="2800" dirty="0">
              <a:latin typeface="Times New Roman" panose="02020603050405020304" pitchFamily="18" charset="0"/>
              <a:cs typeface="Times New Roman" panose="02020603050405020304" pitchFamily="18" charset="0"/>
            </a:endParaRPr>
          </a:p>
          <a:p>
            <a:pPr marL="139700" lvl="0">
              <a:buClr>
                <a:srgbClr val="000000"/>
              </a:buClr>
              <a:buSzPts val="1400"/>
            </a:pPr>
            <a:endParaRPr lang="en-US" sz="2800" dirty="0">
              <a:latin typeface="Times New Roman" panose="02020603050405020304" pitchFamily="18" charset="0"/>
              <a:cs typeface="Times New Roman" panose="02020603050405020304" pitchFamily="18" charset="0"/>
            </a:endParaRPr>
          </a:p>
          <a:p>
            <a:pPr marL="139700" lvl="0" algn="ctr">
              <a:buClr>
                <a:srgbClr val="000000"/>
              </a:buClr>
              <a:buSzPts val="1400"/>
            </a:pPr>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a:p>
            <a:pPr marL="139700" lvl="0">
              <a:buClr>
                <a:srgbClr val="000000"/>
              </a:buClr>
              <a:buSzPts val="1400"/>
            </a:pPr>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2236722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30B04-F78C-F627-48C1-EA5180A25EFE}"/>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B18C5E47-0BD0-15D8-475F-38B3901636F5}"/>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spc="-1" dirty="0">
                <a:solidFill>
                  <a:srgbClr val="000000"/>
                </a:solidFill>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855BC87E-DDA4-1A7A-E78B-9CFA444E8E38}"/>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4</a:t>
            </a:fld>
            <a:endParaRPr lang="en-GB" sz="1200" b="0" strike="noStrike" spc="-1">
              <a:latin typeface="Times New Roman"/>
            </a:endParaRPr>
          </a:p>
        </p:txBody>
      </p:sp>
      <p:sp>
        <p:nvSpPr>
          <p:cNvPr id="5" name="TextShape 2">
            <a:extLst>
              <a:ext uri="{FF2B5EF4-FFF2-40B4-BE49-F238E27FC236}">
                <a16:creationId xmlns:a16="http://schemas.microsoft.com/office/drawing/2014/main" id="{D16C6DF0-0863-C79C-0B37-324304816616}"/>
              </a:ext>
            </a:extLst>
          </p:cNvPr>
          <p:cNvSpPr txBox="1"/>
          <p:nvPr/>
        </p:nvSpPr>
        <p:spPr>
          <a:xfrm>
            <a:off x="164008" y="719328"/>
            <a:ext cx="8838720" cy="6138672"/>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pPr marL="139700" lvl="0">
              <a:buClr>
                <a:srgbClr val="000000"/>
              </a:buClr>
              <a:buSzPts val="1400"/>
            </a:pPr>
            <a:r>
              <a:rPr lang="en-US" sz="3200" dirty="0">
                <a:latin typeface="Times New Roman" panose="02020603050405020304" pitchFamily="18" charset="0"/>
                <a:cs typeface="Times New Roman" panose="02020603050405020304" pitchFamily="18" charset="0"/>
              </a:rPr>
              <a:t>The system also tracks daily calorie and water intake, generates weekly meal plans, and offers regular health updates. By combining technology with nutrition science, </a:t>
            </a:r>
            <a:r>
              <a:rPr lang="en-US" sz="3200" dirty="0" err="1">
                <a:latin typeface="Times New Roman" panose="02020603050405020304" pitchFamily="18" charset="0"/>
                <a:cs typeface="Times New Roman" panose="02020603050405020304" pitchFamily="18" charset="0"/>
              </a:rPr>
              <a:t>NutriGuide</a:t>
            </a:r>
            <a:r>
              <a:rPr lang="en-US" sz="3200" dirty="0">
                <a:latin typeface="Times New Roman" panose="02020603050405020304" pitchFamily="18" charset="0"/>
                <a:cs typeface="Times New Roman" panose="02020603050405020304" pitchFamily="18" charset="0"/>
              </a:rPr>
              <a:t> makes it easier for users to stay consistent, informed, and motivated toward achieving their fitness and health goals.</a:t>
            </a:r>
          </a:p>
          <a:p>
            <a:pPr marL="139700" lvl="0">
              <a:buClr>
                <a:srgbClr val="000000"/>
              </a:buClr>
              <a:buSzPts val="1400"/>
            </a:pPr>
            <a:endParaRPr lang="en-US" sz="3200" dirty="0">
              <a:latin typeface="Times New Roman" panose="02020603050405020304" pitchFamily="18" charset="0"/>
              <a:cs typeface="Times New Roman" panose="02020603050405020304" pitchFamily="18" charset="0"/>
            </a:endParaRPr>
          </a:p>
          <a:p>
            <a:pPr marL="139700" lvl="0" algn="ctr">
              <a:buClr>
                <a:srgbClr val="000000"/>
              </a:buClr>
              <a:buSzPts val="1400"/>
            </a:pPr>
            <a:r>
              <a:rPr lang="en-US" sz="3000" i="1" dirty="0">
                <a:latin typeface="Times New Roman" panose="02020603050405020304" pitchFamily="18" charset="0"/>
                <a:cs typeface="Times New Roman" panose="02020603050405020304" pitchFamily="18" charset="0"/>
              </a:rPr>
              <a:t>“</a:t>
            </a:r>
            <a:r>
              <a:rPr lang="en-US" sz="3000" i="1" dirty="0" err="1">
                <a:latin typeface="Times New Roman" panose="02020603050405020304" pitchFamily="18" charset="0"/>
                <a:cs typeface="Times New Roman" panose="02020603050405020304" pitchFamily="18" charset="0"/>
              </a:rPr>
              <a:t>NutriGuide</a:t>
            </a:r>
            <a:r>
              <a:rPr lang="en-US" sz="3000" i="1" dirty="0">
                <a:latin typeface="Times New Roman" panose="02020603050405020304" pitchFamily="18" charset="0"/>
                <a:cs typeface="Times New Roman" panose="02020603050405020304" pitchFamily="18" charset="0"/>
              </a:rPr>
              <a:t> empowers healthier lives by turning personal data into smart, actionable nutrition decisions.</a:t>
            </a:r>
            <a:endParaRPr lang="en-US" sz="3000" b="0" i="1"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16557416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D2882-6FFA-3F7F-B55C-2E18FB48E63B}"/>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0D94D740-3577-CA68-533F-7D1008FADA9A}"/>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b="0" strike="noStrike" spc="-1" dirty="0">
                <a:solidFill>
                  <a:srgbClr val="000000"/>
                </a:solidFill>
                <a:latin typeface="Times New Roman" panose="02020603050405020304" pitchFamily="18" charset="0"/>
                <a:cs typeface="Times New Roman" panose="02020603050405020304" pitchFamily="18" charset="0"/>
              </a:rPr>
              <a:t>Key Featu</a:t>
            </a:r>
            <a:r>
              <a:rPr lang="en" sz="3200" spc="-1" dirty="0">
                <a:solidFill>
                  <a:srgbClr val="000000"/>
                </a:solidFill>
                <a:latin typeface="Times New Roman" panose="02020603050405020304" pitchFamily="18" charset="0"/>
                <a:cs typeface="Times New Roman" panose="02020603050405020304" pitchFamily="18" charset="0"/>
              </a:rPr>
              <a:t>res</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2986D3FB-6D3E-BEA0-1696-5A728B5F0101}"/>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5</a:t>
            </a:fld>
            <a:endParaRPr lang="en-GB" sz="1200" b="0" strike="noStrike" spc="-1">
              <a:latin typeface="Times New Roman"/>
            </a:endParaRPr>
          </a:p>
        </p:txBody>
      </p:sp>
      <p:sp>
        <p:nvSpPr>
          <p:cNvPr id="5" name="TextShape 2">
            <a:extLst>
              <a:ext uri="{FF2B5EF4-FFF2-40B4-BE49-F238E27FC236}">
                <a16:creationId xmlns:a16="http://schemas.microsoft.com/office/drawing/2014/main" id="{ABE1ACF3-605C-DC80-A250-A4AA7841959A}"/>
              </a:ext>
            </a:extLst>
          </p:cNvPr>
          <p:cNvSpPr txBox="1"/>
          <p:nvPr/>
        </p:nvSpPr>
        <p:spPr>
          <a:xfrm>
            <a:off x="152640" y="582528"/>
            <a:ext cx="8838720" cy="6138672"/>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pPr marL="342900" indent="-342900">
              <a:lnSpc>
                <a:spcPct val="100000"/>
              </a:lnSpc>
              <a:spcBef>
                <a:spcPts val="400"/>
              </a:spcBef>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Personalized Diet Plans based on BMI, goals, and lifestyle </a:t>
            </a:r>
          </a:p>
          <a:p>
            <a:pPr marL="342900" indent="-342900">
              <a:lnSpc>
                <a:spcPct val="100000"/>
              </a:lnSpc>
              <a:spcBef>
                <a:spcPts val="400"/>
              </a:spcBef>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BMI Calculator for health assessment </a:t>
            </a:r>
          </a:p>
          <a:p>
            <a:pPr marL="342900" indent="-342900">
              <a:lnSpc>
                <a:spcPct val="100000"/>
              </a:lnSpc>
              <a:spcBef>
                <a:spcPts val="400"/>
              </a:spcBef>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Calorie Intake Tracking to manage daily energy needs </a:t>
            </a:r>
          </a:p>
          <a:p>
            <a:pPr marL="342900" indent="-342900">
              <a:lnSpc>
                <a:spcPct val="100000"/>
              </a:lnSpc>
              <a:spcBef>
                <a:spcPts val="400"/>
              </a:spcBef>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Water Intake Monitoring for proper hydration </a:t>
            </a:r>
          </a:p>
          <a:p>
            <a:pPr marL="342900" indent="-342900">
              <a:lnSpc>
                <a:spcPct val="100000"/>
              </a:lnSpc>
              <a:spcBef>
                <a:spcPts val="400"/>
              </a:spcBef>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Weekly Meal Planner for structured and balanced eating </a:t>
            </a:r>
          </a:p>
          <a:p>
            <a:pPr marL="342900" indent="-342900">
              <a:lnSpc>
                <a:spcPct val="100000"/>
              </a:lnSpc>
              <a:spcBef>
                <a:spcPts val="400"/>
              </a:spcBef>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Goal Setting &amp; Tracking to stay motivated </a:t>
            </a:r>
          </a:p>
          <a:p>
            <a:pPr marL="342900" indent="-342900">
              <a:lnSpc>
                <a:spcPct val="100000"/>
              </a:lnSpc>
              <a:spcBef>
                <a:spcPts val="400"/>
              </a:spcBef>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Health Updates &amp; Insights for continuous improvement </a:t>
            </a:r>
          </a:p>
          <a:p>
            <a:pPr marL="342900" indent="-342900">
              <a:lnSpc>
                <a:spcPct val="100000"/>
              </a:lnSpc>
              <a:spcBef>
                <a:spcPts val="400"/>
              </a:spcBef>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User-Friendly Interface for easy access and tracking </a:t>
            </a:r>
            <a:endParaRPr lang="en-US" sz="3000"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55990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8042E-CF4E-517A-EB9D-429783CC2280}"/>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80B66AF2-254D-CB62-CE48-07EF447C52C9}"/>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spc="-1" dirty="0">
                <a:solidFill>
                  <a:srgbClr val="000000"/>
                </a:solidFill>
                <a:latin typeface="Times New Roman" panose="02020603050405020304" pitchFamily="18" charset="0"/>
                <a:cs typeface="Times New Roman" panose="02020603050405020304" pitchFamily="18" charset="0"/>
              </a:rPr>
              <a:t>Technologies Used</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A5BE2575-CA4C-1239-593C-4FF7EB8B24AC}"/>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6</a:t>
            </a:fld>
            <a:endParaRPr lang="en-GB" sz="1200" b="0" strike="noStrike" spc="-1">
              <a:latin typeface="Times New Roman"/>
            </a:endParaRPr>
          </a:p>
        </p:txBody>
      </p:sp>
      <p:sp>
        <p:nvSpPr>
          <p:cNvPr id="5" name="TextShape 2">
            <a:extLst>
              <a:ext uri="{FF2B5EF4-FFF2-40B4-BE49-F238E27FC236}">
                <a16:creationId xmlns:a16="http://schemas.microsoft.com/office/drawing/2014/main" id="{04583BAE-47D6-01B4-C7DA-563228CAE8C3}"/>
              </a:ext>
            </a:extLst>
          </p:cNvPr>
          <p:cNvSpPr txBox="1"/>
          <p:nvPr/>
        </p:nvSpPr>
        <p:spPr>
          <a:xfrm>
            <a:off x="152640" y="837720"/>
            <a:ext cx="8838720" cy="5883480"/>
          </a:xfrm>
          <a:prstGeom prst="rect">
            <a:avLst/>
          </a:prstGeom>
          <a:noFill/>
          <a:ln w="9360">
            <a:noFill/>
          </a:ln>
        </p:spPr>
        <p:txBody>
          <a:bodyPr>
            <a:noAutofit/>
          </a:bodyPr>
          <a:lstStyle/>
          <a:p>
            <a:pPr marL="342900" indent="-342900">
              <a:lnSpc>
                <a:spcPct val="150000"/>
              </a:lnSpc>
              <a:spcBef>
                <a:spcPts val="4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Frontend: Built using technologies like HTML, CSS, and JavaScript (or frameworks like React) to create an interactive and user-friendly interface. </a:t>
            </a:r>
          </a:p>
          <a:p>
            <a:pPr marL="342900" indent="-342900">
              <a:lnSpc>
                <a:spcPct val="150000"/>
              </a:lnSpc>
              <a:spcBef>
                <a:spcPts val="4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Backend: Developed using Node.js / Python to handle user data, authentication, and logic processing. </a:t>
            </a:r>
          </a:p>
          <a:p>
            <a:pPr marL="342900" indent="-342900">
              <a:lnSpc>
                <a:spcPct val="150000"/>
              </a:lnSpc>
              <a:spcBef>
                <a:spcPts val="4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Database: Stores user information, diet plans, and health data using systems like MySQL or MongoDB. </a:t>
            </a:r>
          </a:p>
          <a:p>
            <a:pPr marL="342900" indent="-342900">
              <a:lnSpc>
                <a:spcPct val="150000"/>
              </a:lnSpc>
              <a:spcBef>
                <a:spcPts val="4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AI Module: Uses algorithms to calculate BMI, recommend calorie and water intake, and generate personalized diet and meal plans. </a:t>
            </a:r>
          </a:p>
          <a:p>
            <a:pPr marL="342900" indent="-342900">
              <a:lnSpc>
                <a:spcPct val="150000"/>
              </a:lnSpc>
              <a:spcBef>
                <a:spcPts val="4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APIs Integration: For nutrition data, food databases, and health-related calculations. </a:t>
            </a:r>
          </a:p>
          <a:p>
            <a:pPr marL="342900" indent="-342900">
              <a:lnSpc>
                <a:spcPct val="150000"/>
              </a:lnSpc>
              <a:spcBef>
                <a:spcPts val="4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Data Processing: Takes user inputs (age, weight, height, goals) and processes them to generate customized outputs.</a:t>
            </a:r>
            <a:endParaRPr lang="en-US" sz="2000" b="0" strike="noStrike" spc="-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5180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2A1A5-B13D-3C52-4270-9A56EFBA9836}"/>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11450480-AB39-6579-F92C-B0B8B34D2DE1}"/>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spc="-1" dirty="0">
                <a:solidFill>
                  <a:srgbClr val="000000"/>
                </a:solidFill>
                <a:latin typeface="Times New Roman" panose="02020603050405020304" pitchFamily="18" charset="0"/>
                <a:cs typeface="Times New Roman" panose="02020603050405020304" pitchFamily="18" charset="0"/>
              </a:rPr>
              <a:t>Limitations</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BD3EB7C3-48D8-F480-89FA-6488514D4EDD}"/>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7</a:t>
            </a:fld>
            <a:endParaRPr lang="en-GB" sz="1200" b="0" strike="noStrike" spc="-1">
              <a:latin typeface="Times New Roman"/>
            </a:endParaRPr>
          </a:p>
        </p:txBody>
      </p:sp>
      <p:sp>
        <p:nvSpPr>
          <p:cNvPr id="5" name="TextShape 2">
            <a:extLst>
              <a:ext uri="{FF2B5EF4-FFF2-40B4-BE49-F238E27FC236}">
                <a16:creationId xmlns:a16="http://schemas.microsoft.com/office/drawing/2014/main" id="{30E1C505-B482-EF62-13AA-FEF38EC905A7}"/>
              </a:ext>
            </a:extLst>
          </p:cNvPr>
          <p:cNvSpPr txBox="1"/>
          <p:nvPr/>
        </p:nvSpPr>
        <p:spPr>
          <a:xfrm>
            <a:off x="152640" y="837720"/>
            <a:ext cx="8838720" cy="5883480"/>
          </a:xfrm>
          <a:prstGeom prst="rect">
            <a:avLst/>
          </a:prstGeom>
          <a:noFill/>
          <a:ln w="9360">
            <a:noFill/>
          </a:ln>
        </p:spPr>
        <p:txBody>
          <a:bodyPr>
            <a:noAutofit/>
          </a:bodyPr>
          <a:lstStyle/>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Depends on internet connection for AI features and real-time updates </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AI-generated diet suggestions may not always be medically accurate </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Limited offline functionality </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No integration with fitness wearables or smart devices currently </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Accessibility and multilingual support are limited</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Performance may slow with very large numbers of users </a:t>
            </a:r>
          </a:p>
        </p:txBody>
      </p:sp>
    </p:spTree>
    <p:extLst>
      <p:ext uri="{BB962C8B-B14F-4D97-AF65-F5344CB8AC3E}">
        <p14:creationId xmlns:p14="http://schemas.microsoft.com/office/powerpoint/2010/main" val="1450430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64093-A337-DAB8-EA03-3ACDCCC34CC1}"/>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CB4C488C-864E-7764-A84B-C33607ADB6EE}"/>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b="0" strike="noStrike" spc="-1" dirty="0">
                <a:solidFill>
                  <a:srgbClr val="000000"/>
                </a:solidFill>
                <a:latin typeface="Times New Roman" panose="02020603050405020304" pitchFamily="18" charset="0"/>
                <a:cs typeface="Times New Roman" panose="02020603050405020304" pitchFamily="18" charset="0"/>
              </a:rPr>
              <a:t>Conclusion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6BFAE454-967C-30F2-8417-22F6073830B4}"/>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8</a:t>
            </a:fld>
            <a:endParaRPr lang="en-GB" sz="1200" b="0" strike="noStrike" spc="-1">
              <a:latin typeface="Times New Roman"/>
            </a:endParaRPr>
          </a:p>
        </p:txBody>
      </p:sp>
      <p:sp>
        <p:nvSpPr>
          <p:cNvPr id="7" name="TextShape 2">
            <a:extLst>
              <a:ext uri="{FF2B5EF4-FFF2-40B4-BE49-F238E27FC236}">
                <a16:creationId xmlns:a16="http://schemas.microsoft.com/office/drawing/2014/main" id="{B8ED032D-F03E-E235-B10E-DCD2D879FAE2}"/>
              </a:ext>
            </a:extLst>
          </p:cNvPr>
          <p:cNvSpPr txBox="1"/>
          <p:nvPr/>
        </p:nvSpPr>
        <p:spPr>
          <a:xfrm>
            <a:off x="152640" y="1215672"/>
            <a:ext cx="8838720" cy="5883480"/>
          </a:xfrm>
          <a:prstGeom prst="rect">
            <a:avLst/>
          </a:prstGeom>
          <a:noFill/>
          <a:ln w="9360">
            <a:noFill/>
          </a:ln>
        </p:spPr>
        <p:txBody>
          <a:bodyPr>
            <a:noAutofit/>
          </a:bodyPr>
          <a:lstStyle/>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Developed an AI-powered nutrition and meal tracking platform</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Implemented secure authentication and responsive UI </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a:t>
            </a:r>
            <a:r>
              <a:rPr lang="en-IN" sz="3200" dirty="0" err="1">
                <a:latin typeface="Times New Roman" panose="02020603050405020304" pitchFamily="18" charset="0"/>
                <a:cs typeface="Times New Roman" panose="02020603050405020304" pitchFamily="18" charset="0"/>
              </a:rPr>
              <a:t>ntegrated</a:t>
            </a:r>
            <a:r>
              <a:rPr lang="en-IN" sz="3200" dirty="0">
                <a:latin typeface="Times New Roman" panose="02020603050405020304" pitchFamily="18" charset="0"/>
                <a:cs typeface="Times New Roman" panose="02020603050405020304" pitchFamily="18" charset="0"/>
              </a:rPr>
              <a:t> Google Generative AI for personalized diet suggestions</a:t>
            </a:r>
          </a:p>
          <a:p>
            <a:pPr marL="457200" indent="-457200">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Simplifies calorie t</a:t>
            </a:r>
            <a:r>
              <a:rPr lang="en-US" sz="3200" dirty="0">
                <a:latin typeface="Times New Roman" panose="02020603050405020304" pitchFamily="18" charset="0"/>
                <a:cs typeface="Times New Roman" panose="02020603050405020304" pitchFamily="18" charset="0"/>
              </a:rPr>
              <a:t>racking and healthy lifestyle management</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Demonstrates practical use of full-stack web development and AI integration </a:t>
            </a:r>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55591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F5B19-CE15-736C-C4C4-6C606CC2A152}"/>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604C4DEC-668F-FD83-15F7-2437CA0CFB38}"/>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spc="-1" dirty="0">
                <a:solidFill>
                  <a:srgbClr val="000000"/>
                </a:solidFill>
                <a:latin typeface="Times New Roman" panose="02020603050405020304" pitchFamily="18" charset="0"/>
                <a:cs typeface="Times New Roman" panose="02020603050405020304" pitchFamily="18" charset="0"/>
              </a:rPr>
              <a:t>Future Scope</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FD32F00C-F51C-AEF5-37B8-3A016096E589}"/>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9</a:t>
            </a:fld>
            <a:endParaRPr lang="en-GB" sz="1200" b="0" strike="noStrike" spc="-1">
              <a:latin typeface="Times New Roman"/>
            </a:endParaRPr>
          </a:p>
        </p:txBody>
      </p:sp>
      <p:sp>
        <p:nvSpPr>
          <p:cNvPr id="4" name="TextBox 3">
            <a:extLst>
              <a:ext uri="{FF2B5EF4-FFF2-40B4-BE49-F238E27FC236}">
                <a16:creationId xmlns:a16="http://schemas.microsoft.com/office/drawing/2014/main" id="{E330C68F-85BC-2BE3-10B4-ECC689692B04}"/>
              </a:ext>
            </a:extLst>
          </p:cNvPr>
          <p:cNvSpPr txBox="1"/>
          <p:nvPr/>
        </p:nvSpPr>
        <p:spPr>
          <a:xfrm>
            <a:off x="457200" y="1356178"/>
            <a:ext cx="8229240" cy="4524315"/>
          </a:xfrm>
          <a:prstGeom prst="rect">
            <a:avLst/>
          </a:prstGeom>
          <a:noFill/>
        </p:spPr>
        <p:txBody>
          <a:bodyPr wrap="square">
            <a:spAutoFit/>
          </a:bodyPr>
          <a:lstStyle/>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Add image-based food recognition and calorie estimation </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Integrate smartwatches and fitness trackers </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Provide advanced health analytics and progress reports </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Add multilingual and voice assistant support </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Develop Android and iOS mobile applications </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Enable online consultation with nutrition experts </a:t>
            </a:r>
          </a:p>
        </p:txBody>
      </p:sp>
    </p:spTree>
    <p:extLst>
      <p:ext uri="{BB962C8B-B14F-4D97-AF65-F5344CB8AC3E}">
        <p14:creationId xmlns:p14="http://schemas.microsoft.com/office/powerpoint/2010/main" val="3820730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10</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34732</TotalTime>
  <Words>558</Words>
  <Application>Microsoft Office PowerPoint</Application>
  <PresentationFormat>On-screen Show (4:3)</PresentationFormat>
  <Paragraphs>112</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Arayana Singh</cp:lastModifiedBy>
  <cp:revision>2299</cp:revision>
  <dcterms:created xsi:type="dcterms:W3CDTF">2010-04-09T07:36:15Z</dcterms:created>
  <dcterms:modified xsi:type="dcterms:W3CDTF">2026-05-13T18:33:30Z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